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embeddedFontLst>
    <p:embeddedFont>
      <p:font typeface="GS Sans" panose="020E0502030504020204" pitchFamily="34" charset="0"/>
      <p:regular r:id="rId19"/>
      <p:bold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tool: template only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tool: cover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tool: comparing-allocations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tool: risk-return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tool: implemented-model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tool: composition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tool: when fees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tool: fee-structure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tool: when fees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tool: when casp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tool: assumptions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extLst>
      <p:ext uri="{BB962C8B-B14F-4D97-AF65-F5344CB8AC3E}">
        <p14:creationId xmlns:p14="http://schemas.microsoft.com/office/powerpoint/2010/main" val="1212999818"/>
      </p:ext>
    </p:extLst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365760" y="329184"/>
            <a:ext cx="8412480" cy="438912"/>
          </a:xfrm>
        </p:spPr>
        <p:txBody>
          <a:bodyPr lIns="0" tIns="0" rIns="0" bIns="0" anchor="t">
            <a:noAutofit/>
          </a:bodyPr>
          <a:lstStyle/>
          <a:p>
            <a:r>
              <a:rPr lang="en-GB"/>
              <a:t>Slide title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idx="10" hasCustomPrompt="1"/>
          </p:nvPr>
        </p:nvSpPr>
        <p:spPr>
          <a:xfrm>
            <a:off x="365760" y="749808"/>
            <a:ext cx="8412480" cy="347472"/>
          </a:xfrm>
        </p:spPr>
        <p:txBody>
          <a:bodyPr lIns="0" tIns="0" rIns="0" bIns="0" anchor="t">
            <a:no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rgbClr val="4F6688"/>
                </a:solidFill>
                <a:latin typeface="+mj-lt"/>
              </a:defRPr>
            </a:lvl1pPr>
          </a:lstStyle>
          <a:p>
            <a:r>
              <a:rPr lang="en-GB"/>
              <a:t>Subtitle: the section, short</a:t>
            </a:r>
          </a:p>
        </p:txBody>
      </p:sp>
      <p:sp>
        <p:nvSpPr>
          <p:cNvPr id="4" name="Content"/>
          <p:cNvSpPr>
            <a:spLocks noGrp="1"/>
          </p:cNvSpPr>
          <p:nvPr>
            <p:ph idx="11" hasCustomPrompt="1"/>
          </p:nvPr>
        </p:nvSpPr>
        <p:spPr>
          <a:xfrm>
            <a:off x="365760" y="1280160"/>
            <a:ext cx="8412480" cy="4480560"/>
          </a:xfrm>
        </p:spPr>
        <p:txBody>
          <a:bodyPr lIns="0" tIns="0" rIns="0" bIns="0" anchor="t">
            <a:noAutofit/>
          </a:bodyPr>
          <a:lstStyle/>
          <a:p>
            <a:r>
              <a:rPr lang="en-GB"/>
              <a:t>The content box: tables, columns, boxes or text</a:t>
            </a:r>
          </a:p>
        </p:txBody>
      </p:sp>
      <p:sp>
        <p:nvSpPr>
          <p:cNvPr id="5" name="Footnotes"/>
          <p:cNvSpPr>
            <a:spLocks noGrp="1"/>
          </p:cNvSpPr>
          <p:nvPr>
            <p:ph type="body" idx="12" sz="quarter" hasCustomPrompt="1"/>
          </p:nvPr>
        </p:nvSpPr>
        <p:spPr>
          <a:xfrm>
            <a:off x="365760" y="5852160"/>
            <a:ext cx="8412480" cy="548640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200"/>
              </a:spcBef>
              <a:buNone/>
              <a:defRPr sz="700" b="0">
                <a:solidFill>
                  <a:srgbClr val="7C8B9C"/>
                </a:solidFill>
              </a:defRPr>
            </a:lvl1pPr>
          </a:lstStyle>
          <a:p>
            <a:r>
              <a:rPr lang="en-GB"/>
              <a:t>¹ Footnotes, numbered to the table, then the source line and disclaimers</a:t>
            </a:r>
          </a:p>
        </p:txBody>
      </p:sp>
      <p:sp>
        <p:nvSpPr>
          <p:cNvPr id="7" name="Page number"/>
          <p:cNvSpPr>
            <a:spLocks noGrp="1"/>
          </p:cNvSpPr>
          <p:nvPr>
            <p:ph type="sldNum" idx="14" sz="quarter"/>
          </p:nvPr>
        </p:nvSpPr>
        <p:spPr>
          <a:xfrm>
            <a:off x="8321040" y="6473952"/>
            <a:ext cx="457200" cy="219456"/>
          </a:xfrm>
        </p:spPr>
        <p:txBody>
          <a:bodyPr lIns="0" tIns="0" rIns="0" bIns="0" anchor="t">
            <a:noAutofit/>
          </a:bodyPr>
          <a:lstStyle/>
          <a:p>
            <a:fld id="{929A65B9-E694-41D2-ACD2-FD655AA7E379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extLst>
      <p:ext uri="{BB962C8B-B14F-4D97-AF65-F5344CB8AC3E}">
        <p14:creationId xmlns:p14="http://schemas.microsoft.com/office/powerpoint/2010/main" val="2209977519"/>
      </p:ext>
    </p:extLst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Top rule"/>
          <p:cNvCxnSpPr/>
          <p:nvPr userDrawn="1"/>
        </p:nvCxnSpPr>
        <p:spPr>
          <a:xfrm>
            <a:off x="365760" y="256032"/>
            <a:ext cx="841248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65760" y="329184"/>
            <a:ext cx="8412480" cy="4389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Slide title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365760" y="1280160"/>
            <a:ext cx="8412480" cy="44805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Section heading</a:t>
            </a:r>
          </a:p>
          <a:p>
            <a:pPr lvl="1"/>
            <a:r>
              <a:rPr lang="en-GB"/>
              <a:t>Body text</a:t>
            </a:r>
          </a:p>
          <a:p>
            <a:pPr lvl="2"/>
            <a:r>
              <a:rPr lang="en-GB"/>
              <a:t>Bullet</a:t>
            </a:r>
          </a:p>
          <a:p>
            <a:pPr lvl="3"/>
            <a:r>
              <a:rPr lang="en-GB"/>
              <a:t>Note</a:t>
            </a:r>
          </a:p>
          <a:p>
            <a:pPr lvl="4"/>
            <a:r>
              <a:rPr lang="en-GB"/>
              <a:t>Sub-bullet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3"/>
          </p:nvPr>
        </p:nvSpPr>
        <p:spPr>
          <a:xfrm>
            <a:off x="5120640" y="6473952"/>
            <a:ext cx="3154680" cy="219456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50" b="0">
                <a:solidFill>
                  <a:srgbClr val="7C8B9C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4"/>
          </p:nvPr>
        </p:nvSpPr>
        <p:spPr>
          <a:xfrm>
            <a:off x="8321040" y="6473952"/>
            <a:ext cx="457200" cy="219456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700" b="0">
                <a:solidFill>
                  <a:srgbClr val="7C8B9C"/>
                </a:solidFill>
              </a:defRPr>
            </a:lvl1pPr>
          </a:lstStyle>
          <a:p>
            <a:fld id="{87DB2D18-4A26-477F-A209-7BDE37733050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None/>
        <a:defRPr sz="1200" b="1" kern="1200">
          <a:solidFill>
            <a:schemeClr val="accent3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None/>
        <a:defRPr sz="11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73736" indent="-173736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Font typeface="Arial"/>
        <a:buChar char="▪"/>
        <a:defRPr sz="11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200"/>
        </a:spcBef>
        <a:spcAft>
          <a:spcPts val="0"/>
        </a:spcAft>
        <a:buNone/>
        <a:defRPr sz="900" b="0" kern="1200">
          <a:solidFill>
            <a:srgbClr val="7C8B9C"/>
          </a:solidFill>
          <a:latin typeface="+mn-lt"/>
          <a:ea typeface="+mn-ea"/>
          <a:cs typeface="+mn-cs"/>
        </a:defRPr>
      </a:lvl4pPr>
      <a:lvl5pPr marL="347472" indent="-173736" algn="l" defTabSz="914400" rtl="0" eaLnBrk="1" latinLnBrk="0" hangingPunct="1">
        <a:lnSpc>
          <a:spcPct val="100000"/>
        </a:lnSpc>
        <a:spcBef>
          <a:spcPts val="100"/>
        </a:spcBef>
        <a:spcAft>
          <a:spcPts val="0"/>
        </a:spcAft>
        <a:buFont typeface="+mn-lt"/>
        <a:buChar char="–"/>
        <a:defRPr sz="10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347472" indent="-173736" algn="l" defTabSz="914400" rtl="0" eaLnBrk="1" latinLnBrk="0" hangingPunct="1">
        <a:lnSpc>
          <a:spcPct val="100000"/>
        </a:lnSpc>
        <a:spcBef>
          <a:spcPts val="100"/>
        </a:spcBef>
        <a:spcAft>
          <a:spcPts val="0"/>
        </a:spcAft>
        <a:buFont typeface="+mn-lt"/>
        <a:buChar char="–"/>
        <a:defRPr sz="10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347472" indent="-173736" algn="l" defTabSz="914400" rtl="0" eaLnBrk="1" latinLnBrk="0" hangingPunct="1">
        <a:lnSpc>
          <a:spcPct val="100000"/>
        </a:lnSpc>
        <a:spcBef>
          <a:spcPts val="100"/>
        </a:spcBef>
        <a:spcAft>
          <a:spcPts val="0"/>
        </a:spcAft>
        <a:buFont typeface="+mn-lt"/>
        <a:buChar char="–"/>
        <a:defRPr sz="1000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347472" indent="-173736" algn="l" defTabSz="914400" rtl="0" eaLnBrk="1" latinLnBrk="0" hangingPunct="1">
        <a:lnSpc>
          <a:spcPct val="100000"/>
        </a:lnSpc>
        <a:spcBef>
          <a:spcPts val="100"/>
        </a:spcBef>
        <a:spcAft>
          <a:spcPts val="0"/>
        </a:spcAft>
        <a:buFont typeface="+mn-lt"/>
        <a:buChar char="–"/>
        <a:defRPr sz="1000" b="0" kern="1200">
          <a:solidFill>
            <a:schemeClr val="tx1"/>
          </a:solidFill>
          <a:latin typeface="+mn-lt"/>
          <a:ea typeface="+mn-ea"/>
          <a:cs typeface="+mn-cs"/>
        </a:defRPr>
      </a:lvl8pPr>
      <a:lvl9pPr marL="347472" indent="-173736" algn="l" defTabSz="914400" rtl="0" eaLnBrk="1" latinLnBrk="0" hangingPunct="1">
        <a:lnSpc>
          <a:spcPct val="100000"/>
        </a:lnSpc>
        <a:spcBef>
          <a:spcPts val="100"/>
        </a:spcBef>
        <a:spcAft>
          <a:spcPts val="0"/>
        </a:spcAft>
        <a:buFont typeface="+mn-lt"/>
        <a:buChar char="–"/>
        <a:defRPr sz="1000" b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title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Subtitle: the section, short</a:t>
            </a:r>
          </a:p>
        </p:txBody>
      </p:sp>
      <p:sp>
        <p:nvSpPr>
          <p:cNvPr id="4" name="Content"/>
          <p:cNvSpPr>
            <a:spLocks noGrp="1"/>
          </p:cNvSpPr>
          <p:nvPr>
            <p:ph idx="11"/>
          </p:nvPr>
        </p:nvSpPr>
        <p:spPr>
          <a:xfrm>
            <a:off x="365760" y="1389888"/>
            <a:ext cx="3931920" cy="2377440"/>
          </a:xfrm>
        </p:spPr>
        <p:txBody>
          <a:bodyPr/>
          <a:lstStyle/>
          <a:p>
            <a:pPr/>
            <a:r>
              <a:t>Section heading · level 1</a:t>
            </a:r>
          </a:p>
          <a:p>
            <a:pPr lvl="1"/>
            <a:r>
              <a:t>Body text · level 2: a paragraph of the slide’s wording, as on the reference’s narrative columns.</a:t>
            </a:r>
          </a:p>
          <a:p>
            <a:pPr lvl="2"/>
            <a:r>
              <a:t>Bullet · level 3, the small square the reference uses</a:t>
            </a:r>
          </a:p>
          <a:p>
            <a:pPr lvl="3"/>
            <a:r>
              <a:t>Note · level 4, for a line under a table or a box</a:t>
            </a:r>
          </a:p>
          <a:p>
            <a:pPr lvl="4"/>
            <a:r>
              <a:t>Sub-bullet · level 5</a:t>
            </a:r>
          </a:p>
        </p:txBody>
      </p:sp>
      <p:sp>
        <p:nvSpPr>
          <p:cNvPr id="5" name="Footnotes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¹ A footnote, numbered to a superscript in the table. Footnotes sit here, small and grey, above the page’s foot.</a:t>
            </a:r>
          </a:p>
          <a:p>
            <a:r>
              <a:t>The source line and the disclaimers follow the footnotes, in the same style. This slide is the template: a deck adds its slides from the layout and leaves this one out.</a:t>
            </a:r>
          </a:p>
        </p:txBody>
      </p:sp>
      <p:cxnSp>
        <p:nvCxnSpPr>
          <p:cNvPr id="6" name="Style · Section rule"/>
          <p:cNvCxnSpPr/>
          <p:nvPr/>
        </p:nvCxnSpPr>
        <p:spPr>
          <a:xfrm>
            <a:off x="365760" y="1298448"/>
            <a:ext cx="393192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tyle · Navy box"/>
          <p:cNvSpPr/>
          <p:nvPr/>
        </p:nvSpPr>
        <p:spPr>
          <a:xfrm>
            <a:off x="4846320" y="1298448"/>
            <a:ext cx="3931920" cy="17830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201168" tIns="146304" wrap="square"/>
          <a:lstStyle/>
          <a:p>
            <a:pPr algn="l"/>
            <a:r>
              <a:rPr sz="1500" b="0">
                <a:solidFill>
                  <a:schemeClr val="bg1"/>
                </a:solidFill>
                <a:latin typeface="+mj-lt"/>
              </a:rPr>
              <a:t>Estimated weighted average cost</a:t>
            </a:r>
          </a:p>
          <a:p>
            <a:pPr algn="l">
              <a:spcBef>
                <a:spcPts val="800"/>
              </a:spcBef>
            </a:pPr>
            <a:r>
              <a:rPr sz="1100" b="0">
                <a:solidFill>
                  <a:schemeClr val="bg1"/>
                </a:solidFill>
                <a:latin typeface="+mn-lt"/>
              </a:rPr>
              <a:t>Advisory Fee</a:t>
            </a:r>
          </a:p>
          <a:p>
            <a:pPr algn="ctr"/>
            <a:r>
              <a:rPr sz="2800" b="1">
                <a:solidFill>
                  <a:schemeClr val="bg1"/>
                </a:solidFill>
                <a:latin typeface="+mn-lt"/>
              </a:rPr>
              <a:t>0.51%</a:t>
            </a:r>
          </a:p>
          <a:p>
            <a:pPr algn="l"/>
            <a:r>
              <a:rPr sz="1100" b="0">
                <a:solidFill>
                  <a:schemeClr val="bg1"/>
                </a:solidFill>
                <a:latin typeface="+mn-lt"/>
              </a:rPr>
              <a:t>Based on a $25m portfolio</a:t>
            </a:r>
          </a:p>
        </p:txBody>
      </p:sp>
      <p:cxnSp>
        <p:nvCxnSpPr>
          <p:cNvPr id="8" name="Style · Divider"/>
          <p:cNvCxnSpPr/>
          <p:nvPr/>
        </p:nvCxnSpPr>
        <p:spPr>
          <a:xfrm>
            <a:off x="365760" y="3931920"/>
            <a:ext cx="8412480" cy="0"/>
          </a:xfrm>
          <a:prstGeom prst="line">
            <a:avLst/>
          </a:prstGeom>
          <a:ln w="9525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Style · Table"/>
          <p:cNvGraphicFramePr>
            <a:graphicFrameLocks noGrp="1"/>
          </p:cNvGraphicFramePr>
          <p:nvPr/>
        </p:nvGraphicFramePr>
        <p:xfrm>
          <a:off x="365760" y="4096512"/>
          <a:ext cx="8412480" cy="131673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023360"/>
                <a:gridCol w="1463040"/>
                <a:gridCol w="1463040"/>
                <a:gridCol w="1463040"/>
              </a:tblGrid>
              <a:tr h="219456">
                <a:tc>
                  <a:txBody>
                    <a:bodyPr/>
                    <a:lstStyle/>
                    <a:p>
                      <a:pPr algn="l"/>
                    </a:p>
                  </a:txBody>
                  <a:tcPr marL="54864" marR="54864" marT="9144" marB="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chemeClr val="tx1"/>
                          </a:solidFill>
                          <a:latin typeface="+mn-lt"/>
                        </a:rPr>
                        <a:t>Proposed Allocation</a:t>
                      </a:r>
                    </a:p>
                  </a:txBody>
                  <a:tcPr marL="54864" marR="54864" marT="9144" marB="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chemeClr val="tx1"/>
                          </a:solidFill>
                          <a:latin typeface="+mn-lt"/>
                        </a:rPr>
                        <a:t>For Comparison</a:t>
                      </a:r>
                    </a:p>
                  </a:txBody>
                  <a:tcPr marL="54864" marR="54864" marT="9144" marB="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1D2733"/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</a:p>
                  </a:txBody>
                  <a:tcPr marL="54864" marR="54864" marT="9144" marB="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1D27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chemeClr val="accent3"/>
                          </a:solidFill>
                          <a:latin typeface="+mn-lt"/>
                        </a:rPr>
                        <a:t>Moderate-Aggressive</a:t>
                      </a:r>
                    </a:p>
                  </a:txBody>
                  <a:tcPr marL="54864" marR="54864" marT="9144" marB="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1D2733"/>
                      </a:solidFill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chemeClr val="accent3"/>
                          </a:solidFill>
                          <a:latin typeface="+mn-lt"/>
                        </a:rPr>
                        <a:t>Moderate</a:t>
                      </a:r>
                    </a:p>
                  </a:txBody>
                  <a:tcPr marL="54864" marR="54864" marT="9144" marB="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1D27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chemeClr val="accent3"/>
                          </a:solidFill>
                          <a:latin typeface="+mn-lt"/>
                        </a:rPr>
                        <a:t>Aggressive</a:t>
                      </a:r>
                    </a:p>
                  </a:txBody>
                  <a:tcPr marL="54864" marR="54864" marT="9144" marB="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1D2733"/>
                      </a:solidFill>
                    </a:lnB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chemeClr val="tx1"/>
                          </a:solidFill>
                          <a:latin typeface="+mn-lt"/>
                        </a:rPr>
                        <a:t>Fixed Income</a:t>
                      </a:r>
                    </a:p>
                  </a:txBody>
                  <a:tcPr marL="54864" marR="54864" marT="9144" marB="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>
                      <a:solidFill>
                        <a:srgbClr val="C9D1D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chemeClr val="tx1"/>
                          </a:solidFill>
                          <a:latin typeface="+mn-lt"/>
                        </a:rPr>
                        <a:t>25.0%</a:t>
                      </a:r>
                    </a:p>
                  </a:txBody>
                  <a:tcPr marL="54864" marR="54864" marT="9144" marB="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>
                      <a:solidFill>
                        <a:srgbClr val="C9D1DC"/>
                      </a:solidFill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chemeClr val="tx1"/>
                          </a:solidFill>
                          <a:latin typeface="+mn-lt"/>
                        </a:rPr>
                        <a:t>35.0%</a:t>
                      </a:r>
                    </a:p>
                  </a:txBody>
                  <a:tcPr marL="54864" marR="54864" marT="9144" marB="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>
                      <a:solidFill>
                        <a:srgbClr val="C9D1D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chemeClr val="tx1"/>
                          </a:solidFill>
                          <a:latin typeface="+mn-lt"/>
                        </a:rPr>
                        <a:t>15.0%</a:t>
                      </a:r>
                    </a:p>
                  </a:txBody>
                  <a:tcPr marL="54864" marR="54864" marT="9144" marB="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>
                      <a:solidFill>
                        <a:srgbClr val="C9D1DC"/>
                      </a:solidFill>
                    </a:lnB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chemeClr val="tx1"/>
                          </a:solidFill>
                          <a:latin typeface="+mn-lt"/>
                        </a:rPr>
                        <a:t>    Investment Grade Fixed Income</a:t>
                      </a:r>
                    </a:p>
                  </a:txBody>
                  <a:tcPr marL="54864" marR="54864" marT="9144" marB="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>
                      <a:solidFill>
                        <a:srgbClr val="C9D1D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chemeClr val="tx1"/>
                          </a:solidFill>
                          <a:latin typeface="+mn-lt"/>
                        </a:rPr>
                        <a:t>15.7%</a:t>
                      </a:r>
                    </a:p>
                  </a:txBody>
                  <a:tcPr marL="54864" marR="54864" marT="9144" marB="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>
                      <a:solidFill>
                        <a:srgbClr val="C9D1DC"/>
                      </a:solidFill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chemeClr val="tx1"/>
                          </a:solidFill>
                          <a:latin typeface="+mn-lt"/>
                        </a:rPr>
                        <a:t>24.1%</a:t>
                      </a:r>
                    </a:p>
                  </a:txBody>
                  <a:tcPr marL="54864" marR="54864" marT="9144" marB="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>
                      <a:solidFill>
                        <a:srgbClr val="C9D1D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chemeClr val="tx1"/>
                          </a:solidFill>
                          <a:latin typeface="+mn-lt"/>
                        </a:rPr>
                        <a:t>7.4%</a:t>
                      </a:r>
                    </a:p>
                  </a:txBody>
                  <a:tcPr marL="54864" marR="54864" marT="9144" marB="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>
                      <a:solidFill>
                        <a:srgbClr val="C9D1DC"/>
                      </a:solidFill>
                    </a:lnB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chemeClr val="tx1"/>
                          </a:solidFill>
                          <a:latin typeface="+mn-lt"/>
                        </a:rPr>
                        <a:t>    Other Fixed Income</a:t>
                      </a:r>
                    </a:p>
                  </a:txBody>
                  <a:tcPr marL="54864" marR="54864" marT="9144" marB="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>
                      <a:solidFill>
                        <a:srgbClr val="C9D1D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chemeClr val="tx1"/>
                          </a:solidFill>
                          <a:latin typeface="+mn-lt"/>
                        </a:rPr>
                        <a:t>8.0%</a:t>
                      </a:r>
                    </a:p>
                  </a:txBody>
                  <a:tcPr marL="54864" marR="54864" marT="9144" marB="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>
                      <a:solidFill>
                        <a:srgbClr val="C9D1DC"/>
                      </a:solidFill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chemeClr val="tx1"/>
                          </a:solidFill>
                          <a:latin typeface="+mn-lt"/>
                        </a:rPr>
                        <a:t>9.0%</a:t>
                      </a:r>
                    </a:p>
                  </a:txBody>
                  <a:tcPr marL="54864" marR="54864" marT="9144" marB="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>
                      <a:solidFill>
                        <a:srgbClr val="C9D1D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chemeClr val="tx1"/>
                          </a:solidFill>
                          <a:latin typeface="+mn-lt"/>
                        </a:rPr>
                        <a:t>7.0%</a:t>
                      </a:r>
                    </a:p>
                  </a:txBody>
                  <a:tcPr marL="54864" marR="54864" marT="9144" marB="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>
                      <a:solidFill>
                        <a:srgbClr val="C9D1DC"/>
                      </a:solidFill>
                    </a:lnB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chemeClr val="tx1"/>
                          </a:solidFill>
                          <a:latin typeface="+mn-lt"/>
                        </a:rPr>
                        <a:t>Total</a:t>
                      </a:r>
                    </a:p>
                  </a:txBody>
                  <a:tcPr marL="54864" marR="54864" marT="9144" marB="9144" anchor="ctr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rgbClr val="1D2733"/>
                      </a:solidFill>
                    </a:lnT>
                    <a:lnB w="12700" cap="flat">
                      <a:solidFill>
                        <a:srgbClr val="1D27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chemeClr val="tx1"/>
                          </a:solidFill>
                          <a:latin typeface="+mn-lt"/>
                        </a:rPr>
                        <a:t>100%</a:t>
                      </a:r>
                    </a:p>
                  </a:txBody>
                  <a:tcPr marL="54864" marR="54864" marT="9144" marB="9144" anchor="ctr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rgbClr val="1D2733"/>
                      </a:solidFill>
                    </a:lnT>
                    <a:lnB w="12700" cap="flat">
                      <a:solidFill>
                        <a:srgbClr val="1D2733"/>
                      </a:solidFill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chemeClr val="tx1"/>
                          </a:solidFill>
                          <a:latin typeface="+mn-lt"/>
                        </a:rPr>
                        <a:t>100%</a:t>
                      </a:r>
                    </a:p>
                  </a:txBody>
                  <a:tcPr marL="54864" marR="54864" marT="9144" marB="9144" anchor="ctr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rgbClr val="1D2733"/>
                      </a:solidFill>
                    </a:lnT>
                    <a:lnB w="12700" cap="flat">
                      <a:solidFill>
                        <a:srgbClr val="1D27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chemeClr val="tx1"/>
                          </a:solidFill>
                          <a:latin typeface="+mn-lt"/>
                        </a:rPr>
                        <a:t>100%</a:t>
                      </a:r>
                    </a:p>
                  </a:txBody>
                  <a:tcPr marL="54864" marR="54864" marT="9144" marB="9144" anchor="ctr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rgbClr val="1D2733"/>
                      </a:solidFill>
                    </a:lnT>
                    <a:lnB w="12700" cap="flat">
                      <a:solidFill>
                        <a:srgbClr val="1D2733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1" name="Page number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88FCB1E-9B70-4D19-A807-08DB7111B4A9}" type="slidenum">
              <a:rPr lang="en-GB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Marker · The cover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The tool puts its slide here; this one never reaches a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Marker · Strategic Asset Allocation · Comparing Allocations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The tool puts its slide here; this one never reaches a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Marker · Strategic Asset Allocation · Risk and Return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The tool puts its slide here; this one never reaches a deck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Marker · Implemented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The tool puts its slide here; this one never reaches a deck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Marker · Composition of the Implemented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The tool puts its slide here; this one never reaches a deck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Fees Summary</a:t>
            </a:r>
          </a:p>
        </p:txBody>
      </p:sp>
      <p:sp>
        <p:nvSpPr>
          <p:cNvPr id="91" name="Page number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FBAE32B-78F5-4BE0-AD5C-08D268067754}" type="slidenum">
              <a:rPr lang="en-GB"/>
              <a:t>‹#›</a:t>
            </a:fld>
          </a:p>
        </p:txBody>
      </p:sp>
      <p:cxnSp>
        <p:nvCxnSpPr>
          <p:cNvPr id="92" name="Annual Management Fees rule"/>
          <p:cNvCxnSpPr/>
          <p:nvPr/>
        </p:nvCxnSpPr>
        <p:spPr>
          <a:xfrm>
            <a:off x="365760" y="1325880"/>
            <a:ext cx="402336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Annual Management Fees"/>
          <p:cNvSpPr txBox="1"/>
          <p:nvPr/>
        </p:nvSpPr>
        <p:spPr>
          <a:xfrm>
            <a:off x="365760" y="1417320"/>
            <a:ext cx="4023359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accent3"/>
                </a:solidFill>
                <a:latin typeface="+mn-lt"/>
              </a:rPr>
              <a:t>Annual Management Fees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chemeClr val="tx1"/>
                </a:solidFill>
                <a:latin typeface="+mn-lt"/>
              </a:rPr>
              <a:t>The house template’s own wording goes here, as it is on the reference.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chemeClr val="tx1"/>
                </a:solidFill>
                <a:latin typeface="+mn-lt"/>
              </a:rPr>
              <a:t>The weighted average cost of our proposal (taking into account both the product costs and advisory fees) is {{weightedCost}}.</a:t>
            </a:r>
          </a:p>
        </p:txBody>
      </p:sp>
      <p:cxnSp>
        <p:nvCxnSpPr>
          <p:cNvPr id="94" name="Foreign Exchange Commissions rule"/>
          <p:cNvCxnSpPr/>
          <p:nvPr/>
        </p:nvCxnSpPr>
        <p:spPr>
          <a:xfrm>
            <a:off x="4754880" y="1325880"/>
            <a:ext cx="402336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Foreign Exchange Commissions"/>
          <p:cNvSpPr txBox="1"/>
          <p:nvPr/>
        </p:nvSpPr>
        <p:spPr>
          <a:xfrm>
            <a:off x="4754880" y="1417320"/>
            <a:ext cx="4023359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accent3"/>
                </a:solidFill>
                <a:latin typeface="+mn-lt"/>
              </a:rPr>
              <a:t>Foreign Exchange Commissions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chemeClr val="tx1"/>
                </a:solidFill>
                <a:latin typeface="+mn-lt"/>
              </a:rPr>
              <a:t>▪ Trades over {{fxHighEdge}} (or currency equivalent): {{fxHighBps}} bps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chemeClr val="tx1"/>
                </a:solidFill>
                <a:latin typeface="+mn-lt"/>
              </a:rPr>
              <a:t>▪ Trades between {{fxLowEdge}} - {{fxHighEdge}} (or currency equivalent): {{fxMidBps}} bps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chemeClr val="tx1"/>
                </a:solidFill>
                <a:latin typeface="+mn-lt"/>
              </a:rPr>
              <a:t>▪ Trades under {{fxLowEdge}} (or currency equivalent): {{fxLowBps}} bps</a:t>
            </a:r>
          </a:p>
        </p:txBody>
      </p:sp>
      <p:cxnSp>
        <p:nvCxnSpPr>
          <p:cNvPr id="96" name="Transaction Fees rule"/>
          <p:cNvCxnSpPr/>
          <p:nvPr/>
        </p:nvCxnSpPr>
        <p:spPr>
          <a:xfrm>
            <a:off x="365760" y="3611880"/>
            <a:ext cx="402336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ransaction Fees"/>
          <p:cNvSpPr txBox="1"/>
          <p:nvPr/>
        </p:nvSpPr>
        <p:spPr>
          <a:xfrm>
            <a:off x="365760" y="3703320"/>
            <a:ext cx="4023359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accent3"/>
                </a:solidFill>
                <a:latin typeface="+mn-lt"/>
              </a:rPr>
              <a:t>Transaction Fees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chemeClr val="tx1"/>
                </a:solidFill>
                <a:latin typeface="+mn-lt"/>
              </a:rPr>
              <a:t>▪ When we buy or sell equities (including ETFs), we charge {{equityTradeBps}} bps, levied as a percentage of the total value of the transaction.</a:t>
            </a:r>
          </a:p>
        </p:txBody>
      </p:sp>
      <p:cxnSp>
        <p:nvCxnSpPr>
          <p:cNvPr id="98" name="Custody Fees rule"/>
          <p:cNvCxnSpPr/>
          <p:nvPr/>
        </p:nvCxnSpPr>
        <p:spPr>
          <a:xfrm>
            <a:off x="4754880" y="3611880"/>
            <a:ext cx="402336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Custody Fees"/>
          <p:cNvSpPr txBox="1"/>
          <p:nvPr/>
        </p:nvSpPr>
        <p:spPr>
          <a:xfrm>
            <a:off x="4754880" y="3703320"/>
            <a:ext cx="4023359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accent3"/>
                </a:solidFill>
                <a:latin typeface="+mn-lt"/>
              </a:rPr>
              <a:t>Custody Fees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chemeClr val="tx1"/>
                </a:solidFill>
                <a:latin typeface="+mn-lt"/>
              </a:rPr>
              <a:t>▪ We charge an annual custody fee of {{custodyFee}}.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Marker · Portfolio Fee Structure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The tool puts its slide here; this one never reaches a deck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 Summary</a:t>
            </a:r>
          </a:p>
        </p:txBody>
      </p:sp>
      <p:sp>
        <p:nvSpPr>
          <p:cNvPr id="91" name="Page number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1BA61B0-C4C3-4745-870F-2F47B2AF4963}" type="slidenum">
              <a:rPr lang="en-GB"/>
              <a:t>‹#›</a:t>
            </a:fld>
          </a:p>
        </p:txBody>
      </p:sp>
      <p:sp>
        <p:nvSpPr>
          <p:cNvPr id="92" name="Wording · Comprehensive Advisory Fee"/>
          <p:cNvSpPr txBox="1"/>
          <p:nvPr/>
        </p:nvSpPr>
        <p:spPr>
          <a:xfrm>
            <a:off x="365760" y="1325880"/>
            <a:ext cx="26517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accent3"/>
                </a:solidFill>
                <a:latin typeface="+mn-lt"/>
              </a:rPr>
              <a:t>Comprehensive Advisory Fee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C8B9C"/>
                </a:solidFill>
                <a:latin typeface="+mn-lt"/>
              </a:rPr>
              <a:t>The house template’s own wording goes here, as it is on the reference.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C8B9C"/>
                </a:solidFill>
                <a:latin typeface="+mn-lt"/>
              </a:rPr>
              <a:t>The deck leaves it as it is and fills in only the figures.</a:t>
            </a:r>
          </a:p>
        </p:txBody>
      </p:sp>
      <p:sp>
        <p:nvSpPr>
          <p:cNvPr id="93" name="Wording · Fee Structure"/>
          <p:cNvSpPr txBox="1"/>
          <p:nvPr/>
        </p:nvSpPr>
        <p:spPr>
          <a:xfrm>
            <a:off x="3200400" y="1325880"/>
            <a:ext cx="26517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accent3"/>
                </a:solidFill>
                <a:latin typeface="+mn-lt"/>
              </a:rPr>
              <a:t>Fee Structure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C8B9C"/>
                </a:solidFill>
                <a:latin typeface="+mn-lt"/>
              </a:rPr>
              <a:t>The house template’s own wording goes here, as it is on the reference.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C8B9C"/>
                </a:solidFill>
                <a:latin typeface="+mn-lt"/>
              </a:rPr>
              <a:t>The deck leaves it as it is and fills in only the figures.</a:t>
            </a:r>
          </a:p>
        </p:txBody>
      </p:sp>
      <p:sp>
        <p:nvSpPr>
          <p:cNvPr id="94" name="Fee summary box"/>
          <p:cNvSpPr/>
          <p:nvPr/>
        </p:nvSpPr>
        <p:spPr>
          <a:xfrm>
            <a:off x="6035040" y="1325880"/>
            <a:ext cx="2743200" cy="32918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6" wrap="square"/>
          <a:lstStyle/>
          <a:p>
            <a:pPr algn="l"/>
            <a:r>
              <a:rPr sz="1400" b="0">
                <a:solidFill>
                  <a:schemeClr val="bg1"/>
                </a:solidFill>
                <a:latin typeface="+mn-lt"/>
              </a:rPr>
              <a:t>Estimated weighted average cost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chemeClr val="bg1"/>
                </a:solidFill>
                <a:latin typeface="+mn-lt"/>
              </a:rPr>
              <a:t>Advisory Fee</a:t>
            </a:r>
          </a:p>
          <a:p>
            <a:pPr algn="ctr">
              <a:spcBef>
                <a:spcPts val="400"/>
              </a:spcBef>
            </a:pPr>
            <a:r>
              <a:rPr sz="2400" b="1">
                <a:solidFill>
                  <a:schemeClr val="bg1"/>
                </a:solidFill>
                <a:latin typeface="+mn-lt"/>
              </a:rPr>
              <a:t>{{advisoryFee}}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chemeClr val="bg1"/>
                </a:solidFill>
                <a:latin typeface="+mn-lt"/>
              </a:rPr>
              <a:t>Product Cost</a:t>
            </a:r>
          </a:p>
          <a:p>
            <a:pPr algn="ctr">
              <a:spcBef>
                <a:spcPts val="400"/>
              </a:spcBef>
            </a:pPr>
            <a:r>
              <a:rPr sz="2400" b="1">
                <a:solidFill>
                  <a:schemeClr val="bg1"/>
                </a:solidFill>
                <a:latin typeface="+mn-lt"/>
              </a:rPr>
              <a:t>{{productCost}}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chemeClr val="bg1"/>
                </a:solidFill>
                <a:latin typeface="+mn-lt"/>
              </a:rPr>
              <a:t>Total Cost</a:t>
            </a:r>
          </a:p>
          <a:p>
            <a:pPr algn="ctr">
              <a:spcBef>
                <a:spcPts val="400"/>
              </a:spcBef>
            </a:pPr>
            <a:r>
              <a:rPr sz="2400" b="1">
                <a:solidFill>
                  <a:schemeClr val="bg1"/>
                </a:solidFill>
                <a:latin typeface="+mn-lt"/>
              </a:rPr>
              <a:t>{{totalCost}}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chemeClr val="bg1"/>
                </a:solidFill>
                <a:latin typeface="+mn-lt"/>
              </a:rPr>
              <a:t>Based on a {{mandateSize}} portfolio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Advisory Fee Schedule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Our Comprehensive Advisory Fee covers all of the following services:</a:t>
            </a:r>
          </a:p>
        </p:txBody>
      </p:sp>
      <p:sp>
        <p:nvSpPr>
          <p:cNvPr id="91" name="Page number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235DF15-360D-4C88-9974-DEFD1D503833}" type="slidenum">
              <a:rPr lang="en-GB"/>
              <a:t>‹#›</a:t>
            </a:fld>
          </a:p>
        </p:txBody>
      </p:sp>
      <p:sp>
        <p:nvSpPr>
          <p:cNvPr id="92" name="Wording · Planning and Investment Management"/>
          <p:cNvSpPr txBox="1"/>
          <p:nvPr/>
        </p:nvSpPr>
        <p:spPr>
          <a:xfrm>
            <a:off x="365760" y="1325880"/>
            <a:ext cx="26517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accent3"/>
                </a:solidFill>
                <a:latin typeface="+mn-lt"/>
              </a:rPr>
              <a:t>Planning and Investment Management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C8B9C"/>
                </a:solidFill>
                <a:latin typeface="+mn-lt"/>
              </a:rPr>
              <a:t>The house template’s own wording goes here, as it is on the reference.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C8B9C"/>
                </a:solidFill>
                <a:latin typeface="+mn-lt"/>
              </a:rPr>
              <a:t>The deck leaves it as it is and fills in only the figures.</a:t>
            </a:r>
          </a:p>
        </p:txBody>
      </p:sp>
      <p:sp>
        <p:nvSpPr>
          <p:cNvPr id="93" name="Wording · Monitoring, Evaluation and Reporting"/>
          <p:cNvSpPr txBox="1"/>
          <p:nvPr/>
        </p:nvSpPr>
        <p:spPr>
          <a:xfrm>
            <a:off x="3200400" y="1325880"/>
            <a:ext cx="26517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accent3"/>
                </a:solidFill>
                <a:latin typeface="+mn-lt"/>
              </a:rPr>
              <a:t>Monitoring, Evaluation and Reporting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C8B9C"/>
                </a:solidFill>
                <a:latin typeface="+mn-lt"/>
              </a:rPr>
              <a:t>The house template’s own wording goes here, as it is on the reference.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C8B9C"/>
                </a:solidFill>
                <a:latin typeface="+mn-lt"/>
              </a:rPr>
              <a:t>The deck leaves it as it is and fills in only the figures.</a:t>
            </a:r>
          </a:p>
        </p:txBody>
      </p:sp>
      <p:sp>
        <p:nvSpPr>
          <p:cNvPr id="94" name="Wording · Ongoing Education and Research"/>
          <p:cNvSpPr txBox="1"/>
          <p:nvPr/>
        </p:nvSpPr>
        <p:spPr>
          <a:xfrm>
            <a:off x="6035040" y="1325880"/>
            <a:ext cx="26517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accent3"/>
                </a:solidFill>
                <a:latin typeface="+mn-lt"/>
              </a:rPr>
              <a:t>Ongoing Education and Research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C8B9C"/>
                </a:solidFill>
                <a:latin typeface="+mn-lt"/>
              </a:rPr>
              <a:t>The house template’s own wording goes here, as it is on the reference.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C8B9C"/>
                </a:solidFill>
                <a:latin typeface="+mn-lt"/>
              </a:rPr>
              <a:t>The deck leaves it as it is and fills in only the figures.</a:t>
            </a:r>
          </a:p>
        </p:txBody>
      </p:sp>
      <p:sp>
        <p:nvSpPr>
          <p:cNvPr id="95" name="Fee schedule box"/>
          <p:cNvSpPr/>
          <p:nvPr/>
        </p:nvSpPr>
        <p:spPr>
          <a:xfrm>
            <a:off x="365760" y="3749039"/>
            <a:ext cx="3291840" cy="9144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6" wrap="square"/>
          <a:lstStyle/>
          <a:p>
            <a:pPr algn="l"/>
            <a:r>
              <a:rPr sz="1400" b="0">
                <a:solidFill>
                  <a:schemeClr val="bg1"/>
                </a:solidFill>
                <a:latin typeface="+mn-lt"/>
              </a:rPr>
              <a:t>Comprehensive Advisory Fee Schedule</a:t>
            </a:r>
          </a:p>
        </p:txBody>
      </p:sp>
      <p:sp>
        <p:nvSpPr>
          <p:cNvPr id="96" name="tool: fee-ladder"/>
          <p:cNvSpPr/>
          <p:nvPr/>
        </p:nvSpPr>
        <p:spPr>
          <a:xfrm>
            <a:off x="4023360" y="3657600"/>
            <a:ext cx="4754880" cy="201168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tool: fee-ladder · the tier table is drawn here</a:t>
            </a:r>
          </a:p>
        </p:txBody>
      </p:sp>
      <p:sp>
        <p:nvSpPr>
          <p:cNvPr id="97" name="Footnote"/>
          <p:cNvSpPr txBox="1"/>
          <p:nvPr/>
        </p:nvSpPr>
        <p:spPr>
          <a:xfrm>
            <a:off x="365760" y="5897880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>
                <a:solidFill>
                  <a:srgbClr val="7C8B9C"/>
                </a:solidFill>
                <a:latin typeface="+mn-lt"/>
              </a:rPr>
              <a:t>¹ The house template’s footnote on the tiers goes 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Marker · Long-Term Capital Market Assumptions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The tool puts its slide here; this one never reaches a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posal Deck">
  <a:themeElements>
    <a:clrScheme name="Proposal Deck">
      <a:dk1>
        <a:srgbClr xmlns:r="http://schemas.openxmlformats.org/officeDocument/2006/relationships" xmlns:p="http://schemas.openxmlformats.org/presentationml/2006/main" val="1D2733"/>
      </a:dk1>
      <a:lt1>
        <a:srgbClr xmlns:r="http://schemas.openxmlformats.org/officeDocument/2006/relationships" xmlns:p="http://schemas.openxmlformats.org/presentationml/2006/main" val="FFFFFF"/>
      </a:lt1>
      <a:dk2>
        <a:srgbClr xmlns:r="http://schemas.openxmlformats.org/officeDocument/2006/relationships" xmlns:p="http://schemas.openxmlformats.org/presentationml/2006/main" val="0F243E"/>
      </a:dk2>
      <a:lt2>
        <a:srgbClr xmlns:r="http://schemas.openxmlformats.org/officeDocument/2006/relationships" xmlns:p="http://schemas.openxmlformats.org/presentationml/2006/main" val="F1F4F9"/>
      </a:lt2>
      <a:accent1>
        <a:srgbClr xmlns:r="http://schemas.openxmlformats.org/officeDocument/2006/relationships" xmlns:p="http://schemas.openxmlformats.org/presentationml/2006/main" val="5B7DB1"/>
      </a:accent1>
      <a:accent2>
        <a:srgbClr xmlns:r="http://schemas.openxmlformats.org/officeDocument/2006/relationships" xmlns:p="http://schemas.openxmlformats.org/presentationml/2006/main" val="132A7A"/>
      </a:accent2>
      <a:accent3>
        <a:srgbClr xmlns:r="http://schemas.openxmlformats.org/officeDocument/2006/relationships" xmlns:p="http://schemas.openxmlformats.org/presentationml/2006/main" val="143D8F"/>
      </a:accent3>
      <a:accent4>
        <a:srgbClr xmlns:r="http://schemas.openxmlformats.org/officeDocument/2006/relationships" xmlns:p="http://schemas.openxmlformats.org/presentationml/2006/main" val="C21D3B"/>
      </a:accent4>
      <a:accent5>
        <a:srgbClr xmlns:r="http://schemas.openxmlformats.org/officeDocument/2006/relationships" xmlns:p="http://schemas.openxmlformats.org/presentationml/2006/main" val="F3EC5B"/>
      </a:accent5>
      <a:accent6>
        <a:srgbClr xmlns:r="http://schemas.openxmlformats.org/officeDocument/2006/relationships" xmlns:p="http://schemas.openxmlformats.org/presentationml/2006/main" val="BFD0F4"/>
      </a:accent6>
      <a:hlink>
        <a:srgbClr xmlns:r="http://schemas.openxmlformats.org/officeDocument/2006/relationships" xmlns:p="http://schemas.openxmlformats.org/presentationml/2006/main" val="2E5FCB"/>
      </a:hlink>
      <a:folHlink>
        <a:srgbClr xmlns:r="http://schemas.openxmlformats.org/officeDocument/2006/relationships" xmlns:p="http://schemas.openxmlformats.org/presentationml/2006/main" val="6E7E8F"/>
      </a:folHlink>
    </a:clrScheme>
    <a:fontScheme name="Proposal Deck">
      <a:majorFont>
        <a:latin typeface="GS Sans"/>
        <a:ea typeface=""/>
        <a:cs typeface=""/>
      </a:majorFont>
      <a:minorFont>
        <a:latin typeface="GS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GS Sans"/>
        <a:ea typeface=""/>
        <a:cs typeface=""/>
      </a:majorFont>
      <a:minorFont>
        <a:latin typeface="GS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deck template</dc:title>
  <dc:subject>The house slide style every proposal deck is built from</dc:subject>
  <dc:creator>Proposal Tool</dc:creator>
  <cp:keywords>template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